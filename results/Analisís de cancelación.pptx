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Regresión Logística</c:v>
                </c:pt>
              </c:strCache>
            </c:strRef>
          </c:tx>
          <c:spPr>
            <a:solidFill>
              <a:srgbClr val="1F6FB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2A3A"/>
                    </a:solidFill>
                    <a:latin typeface="Calibri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0.92630000000000001</c:v>
                </c:pt>
                <c:pt idx="1">
                  <c:v>0.8639</c:v>
                </c:pt>
                <c:pt idx="2">
                  <c:v>0.83330000000000004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C8-4133-97FA-DF299CD1F5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1FA8C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2A3A"/>
                    </a:solidFill>
                    <a:latin typeface="Calibri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0.92130000000000001</c:v>
                </c:pt>
                <c:pt idx="1">
                  <c:v>0.84970000000000001</c:v>
                </c:pt>
                <c:pt idx="2">
                  <c:v>0.82830000000000004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C8-4133-97FA-DF299CD1F5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718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6350" cap="flat">
              <a:solidFill>
                <a:srgbClr val="E7ED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71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A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E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874520"/>
            <a:ext cx="7498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658368"/>
            <a:ext cx="80467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8288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7220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terior de gimnasio moderno en penumbra con equipos de entrenamiento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verla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440">
              <a:alpha val="68000"/>
            </a:srgbClr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4" name="left 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394960" cy="5143500"/>
          </a:xfrm>
          <a:prstGeom prst="rect">
            <a:avLst/>
          </a:prstGeom>
          <a:solidFill>
            <a:srgbClr val="0E2440">
              <a:alpha val="82000"/>
            </a:srgbClr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3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FITNESS  ·  ANÁLISIS DE DATOS</a:t>
            </a:r>
            <a:endParaRPr lang="en-US" sz="13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87452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 de Cancelación y</a:t>
            </a:r>
            <a:endParaRPr lang="en-US" sz="2900" dirty="0"/>
          </a:p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Segmentación de Clientes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658368" y="3310128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predictivos y segmentación de comportamiento para reducir la cancelación de membresías.</a:t>
            </a:r>
            <a:endParaRPr lang="en-US" sz="1500" dirty="0"/>
          </a:p>
        </p:txBody>
      </p:sp>
      <p:sp>
        <p:nvSpPr>
          <p:cNvPr id="8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4041648"/>
            <a:ext cx="2011680" cy="0"/>
          </a:xfrm>
          <a:prstGeom prst="line">
            <a:avLst/>
          </a:prstGeom>
          <a:noFill/>
          <a:ln w="25400">
            <a:solidFill>
              <a:srgbClr val="1FA8C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658368" y="41605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Supervisado &amp; No Supervisado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 · Random Forest · K-Means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309360" y="4681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ejecutiva · Julio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DEL PROYECTO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reto: retener a los socios de Model Fitness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8001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Fitness es una cadena de gimnasios que busca reducir su tasa de cancelación de membresías analizando el comportamiento de sus clientes para anticipar el abandono y actuar antes de que ocurra.</a:t>
            </a:r>
            <a:endParaRPr lang="en-US" sz="1450" dirty="0"/>
          </a:p>
        </p:txBody>
      </p:sp>
      <p:sp>
        <p:nvSpPr>
          <p:cNvPr id="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514600"/>
            <a:ext cx="25877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514600"/>
            <a:ext cx="82296" cy="1783080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22960" y="2752344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227832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la tasa de cancelación de membresías en la cadena de gimnasios.</a:t>
            </a:r>
            <a:endParaRPr lang="en-US" sz="1250" dirty="0"/>
          </a:p>
        </p:txBody>
      </p:sp>
      <p:sp>
        <p:nvSpPr>
          <p:cNvPr id="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2514600"/>
            <a:ext cx="25877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2514600"/>
            <a:ext cx="82296" cy="1783080"/>
          </a:xfrm>
          <a:prstGeom prst="rect">
            <a:avLst/>
          </a:prstGeom>
          <a:solidFill>
            <a:srgbClr val="1FA8C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529584" y="2752344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Enfoque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29584" y="3227832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el comportamiento de los clientes para detectar señales de abandono.</a:t>
            </a:r>
            <a:endParaRPr lang="en-US" sz="1250" dirty="0"/>
          </a:p>
        </p:txBody>
      </p:sp>
      <p:sp>
        <p:nvSpPr>
          <p:cNvPr id="1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0176" y="2514600"/>
            <a:ext cx="25877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0176" y="2514600"/>
            <a:ext cx="82296" cy="1783080"/>
          </a:xfrm>
          <a:prstGeom prst="rect">
            <a:avLst/>
          </a:prstGeom>
          <a:solidFill>
            <a:srgbClr val="2FA37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236208" y="2752344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Técnicas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36208" y="3227832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Supervisado (Reg. Logística y Random Forest) y No Supervisado (K-Means).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Fitness · Análisis de churn y segmentación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321040" y="48280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DEL ANÁLISIS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Dos frentes: predecir y segmentar</a:t>
            </a:r>
            <a:endParaRPr lang="en-US" sz="2900" dirty="0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554480"/>
            <a:ext cx="391363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5" name="header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554480"/>
            <a:ext cx="3913632" cy="822960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6" name="Text 4"/>
          <p:cNvSpPr/>
          <p:nvPr/>
        </p:nvSpPr>
        <p:spPr>
          <a:xfrm>
            <a:off x="859536" y="1700784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Predicción de abandono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9536" y="2029968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Anticipar la </a:t>
            </a:r>
            <a:r>
              <a:rPr lang="es-MX" sz="1150" noProof="0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cancelación</a:t>
            </a:r>
            <a:r>
              <a:rPr lang="en-US" sz="1150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una membresía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7824" y="2578608"/>
            <a:ext cx="334670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modelos que predigan si un cliente cancelará.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Regresión Logística vs. Random Forest.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las variables con mayor influencia.</a:t>
            </a:r>
            <a:endParaRPr lang="en-US" sz="1350" dirty="0"/>
          </a:p>
        </p:txBody>
      </p:sp>
      <p:sp>
        <p:nvSpPr>
          <p:cNvPr id="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554480"/>
            <a:ext cx="391363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10" name="header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554480"/>
            <a:ext cx="3913632" cy="822960"/>
          </a:xfrm>
          <a:prstGeom prst="rect">
            <a:avLst/>
          </a:prstGeom>
          <a:solidFill>
            <a:srgbClr val="2FA37A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11" name="Text 9"/>
          <p:cNvSpPr/>
          <p:nvPr/>
        </p:nvSpPr>
        <p:spPr>
          <a:xfrm>
            <a:off x="4956048" y="1700784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Segmentación de clientes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56048" y="2029968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perfiles con comportamiento similar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74336" y="2578608"/>
            <a:ext cx="334670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clientes con características similares.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perfiles de riesgo de abandono.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recomendaciones para cada segmento.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66928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Fitness · Análisis de churn y segmentación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321040" y="48280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PREPARACIÓN DE LOS DATOS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 consistentes y listos para modelar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8001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garantizar que la información fuera consistente y adecuada para el entrenamiento de los modelos.</a:t>
            </a:r>
            <a:endParaRPr lang="en-US" sz="1400" dirty="0"/>
          </a:p>
        </p:txBody>
      </p:sp>
      <p:sp>
        <p:nvSpPr>
          <p:cNvPr id="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148840"/>
            <a:ext cx="193852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6" name="Text 4"/>
          <p:cNvSpPr/>
          <p:nvPr/>
        </p:nvSpPr>
        <p:spPr>
          <a:xfrm>
            <a:off x="768096" y="2331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68096" y="286207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Valores nulos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8096" y="31729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datos faltantes.</a:t>
            </a:r>
            <a:endParaRPr lang="en-US" sz="1100" dirty="0"/>
          </a:p>
        </p:txBody>
      </p:sp>
      <p:sp>
        <p:nvSpPr>
          <p:cNvPr id="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4328" y="2148840"/>
            <a:ext cx="193852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10" name="Text 8"/>
          <p:cNvSpPr/>
          <p:nvPr/>
        </p:nvSpPr>
        <p:spPr>
          <a:xfrm>
            <a:off x="2825496" y="2331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25496" y="286207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Duplicados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825496" y="31729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registros repetidos.</a:t>
            </a:r>
            <a:endParaRPr lang="en-US" sz="1100" dirty="0"/>
          </a:p>
        </p:txBody>
      </p:sp>
      <p:sp>
        <p:nvSpPr>
          <p:cNvPr id="1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2148840"/>
            <a:ext cx="193852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14" name="Text 12"/>
          <p:cNvSpPr/>
          <p:nvPr/>
        </p:nvSpPr>
        <p:spPr>
          <a:xfrm>
            <a:off x="4882896" y="2331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882896" y="286207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datos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82896" y="31729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del formato de cada variable.</a:t>
            </a:r>
            <a:endParaRPr lang="en-US" sz="1100" dirty="0"/>
          </a:p>
        </p:txBody>
      </p:sp>
      <p:sp>
        <p:nvSpPr>
          <p:cNvPr id="1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39128" y="2148840"/>
            <a:ext cx="193852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18" name="Text 16"/>
          <p:cNvSpPr/>
          <p:nvPr/>
        </p:nvSpPr>
        <p:spPr>
          <a:xfrm>
            <a:off x="6940296" y="2331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40296" y="286207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Estandarización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940296" y="31729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 de variables para K-Means.</a:t>
            </a:r>
            <a:endParaRPr lang="en-US" sz="1100" dirty="0"/>
          </a:p>
        </p:txBody>
      </p:sp>
      <p:sp>
        <p:nvSpPr>
          <p:cNvPr id="21" name="conclus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950208"/>
            <a:ext cx="8010144" cy="713232"/>
          </a:xfrm>
          <a:prstGeom prst="rect">
            <a:avLst/>
          </a:prstGeom>
          <a:solidFill>
            <a:srgbClr val="E8F5EF"/>
          </a:solidFill>
          <a:ln w="12700">
            <a:solidFill>
              <a:srgbClr val="2FA37A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22" name="Text 20"/>
          <p:cNvSpPr/>
          <p:nvPr/>
        </p:nvSpPr>
        <p:spPr>
          <a:xfrm>
            <a:off x="822960" y="3950208"/>
            <a:ext cx="7498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Conclusión.  </a:t>
            </a: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conjunto de datos presentó buena calidad; solo fue necesario preparar las variables para el modelado y la segmentación.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Fitness · Análisis de churn y segmentación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321040" y="48280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 EXPLORATORIO · EDA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Señales tempranas del abandono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8001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comparar a quienes permanecieron con quienes cancelaron, aparecen cuatro diferencias claras.</a:t>
            </a:r>
            <a:endParaRPr lang="en-US" sz="1400" dirty="0"/>
          </a:p>
        </p:txBody>
      </p:sp>
      <p:sp>
        <p:nvSpPr>
          <p:cNvPr id="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103120"/>
            <a:ext cx="193852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103120"/>
            <a:ext cx="82296" cy="1417320"/>
          </a:xfrm>
          <a:prstGeom prst="rect">
            <a:avLst/>
          </a:prstGeom>
          <a:solidFill>
            <a:srgbClr val="E06A4E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7" name="Text 5"/>
          <p:cNvSpPr/>
          <p:nvPr/>
        </p:nvSpPr>
        <p:spPr>
          <a:xfrm>
            <a:off x="804672" y="2322576"/>
            <a:ext cx="152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Menor antigüedad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889504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más nuevos cancelan más.</a:t>
            </a:r>
            <a:endParaRPr lang="en-US" sz="1150" dirty="0"/>
          </a:p>
        </p:txBody>
      </p:sp>
      <p:sp>
        <p:nvSpPr>
          <p:cNvPr id="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4328" y="2103120"/>
            <a:ext cx="193852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1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4328" y="2103120"/>
            <a:ext cx="82296" cy="1417320"/>
          </a:xfrm>
          <a:prstGeom prst="rect">
            <a:avLst/>
          </a:prstGeom>
          <a:solidFill>
            <a:srgbClr val="E06A4E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11" name="Text 9"/>
          <p:cNvSpPr/>
          <p:nvPr/>
        </p:nvSpPr>
        <p:spPr>
          <a:xfrm>
            <a:off x="2862072" y="2322576"/>
            <a:ext cx="152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Menor frecuencia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862072" y="2889504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 el gimnasio con menos regularidad.</a:t>
            </a:r>
            <a:endParaRPr lang="en-US" sz="1150" dirty="0"/>
          </a:p>
        </p:txBody>
      </p:sp>
      <p:sp>
        <p:nvSpPr>
          <p:cNvPr id="1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2103120"/>
            <a:ext cx="193852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2103120"/>
            <a:ext cx="82296" cy="1417320"/>
          </a:xfrm>
          <a:prstGeom prst="rect">
            <a:avLst/>
          </a:prstGeom>
          <a:solidFill>
            <a:srgbClr val="E06A4E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15" name="Text 13"/>
          <p:cNvSpPr/>
          <p:nvPr/>
        </p:nvSpPr>
        <p:spPr>
          <a:xfrm>
            <a:off x="4919472" y="2322576"/>
            <a:ext cx="152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Contratos cortos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919472" y="2889504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Optan por planes de corta duración.</a:t>
            </a:r>
            <a:endParaRPr lang="en-US" sz="1150" dirty="0"/>
          </a:p>
        </p:txBody>
      </p:sp>
      <p:sp>
        <p:nvSpPr>
          <p:cNvPr id="1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39128" y="2103120"/>
            <a:ext cx="193852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1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39128" y="2103120"/>
            <a:ext cx="82296" cy="1417320"/>
          </a:xfrm>
          <a:prstGeom prst="rect">
            <a:avLst/>
          </a:prstGeom>
          <a:solidFill>
            <a:srgbClr val="E06A4E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19" name="Text 17"/>
          <p:cNvSpPr/>
          <p:nvPr/>
        </p:nvSpPr>
        <p:spPr>
          <a:xfrm>
            <a:off x="6976872" y="2322576"/>
            <a:ext cx="152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Menos actividad grupal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976872" y="2889504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participación en clases colectivas.</a:t>
            </a:r>
            <a:endParaRPr lang="en-US" sz="1150" dirty="0"/>
          </a:p>
        </p:txBody>
      </p:sp>
      <p:sp>
        <p:nvSpPr>
          <p:cNvPr id="21" name="conclus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913632"/>
            <a:ext cx="8010144" cy="731520"/>
          </a:xfrm>
          <a:prstGeom prst="rect">
            <a:avLst/>
          </a:prstGeom>
          <a:solidFill>
            <a:srgbClr val="0E2440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22" name="Text 20"/>
          <p:cNvSpPr/>
          <p:nvPr/>
        </p:nvSpPr>
        <p:spPr>
          <a:xfrm>
            <a:off x="822960" y="3913632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7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diferencias permiten detectar de forma temprana a los clientes con mayor probabilidad de abandonar.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Fitness · Análisis de churn y segmentación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321040" y="48280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 EXPLORATORIO · EDA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Variables más relacionadas con la retención</a:t>
            </a:r>
            <a:endParaRPr lang="en-US" sz="2900" dirty="0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463040"/>
            <a:ext cx="5074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5" name="rank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591056"/>
            <a:ext cx="292608" cy="292608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6" name="Text 4"/>
          <p:cNvSpPr/>
          <p:nvPr/>
        </p:nvSpPr>
        <p:spPr>
          <a:xfrm>
            <a:off x="713232" y="1591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33856" y="14630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del contrato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07408" y="1463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FUERTE</a:t>
            </a:r>
            <a:endParaRPr lang="en-US" sz="1000" dirty="0"/>
          </a:p>
        </p:txBody>
      </p:sp>
      <p:sp>
        <p:nvSpPr>
          <p:cNvPr id="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112264"/>
            <a:ext cx="5074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10" name="rank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2240280"/>
            <a:ext cx="292608" cy="292608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11" name="Text 9"/>
          <p:cNvSpPr/>
          <p:nvPr/>
        </p:nvSpPr>
        <p:spPr>
          <a:xfrm>
            <a:off x="713232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33856" y="211226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de visitas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07408" y="211226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FUERTE</a:t>
            </a:r>
            <a:endParaRPr lang="en-US" sz="1000" dirty="0"/>
          </a:p>
        </p:txBody>
      </p:sp>
      <p:sp>
        <p:nvSpPr>
          <p:cNvPr id="1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761488"/>
            <a:ext cx="5074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15" name="rank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2889504"/>
            <a:ext cx="292608" cy="292608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16" name="Text 14"/>
          <p:cNvSpPr/>
          <p:nvPr/>
        </p:nvSpPr>
        <p:spPr>
          <a:xfrm>
            <a:off x="713232" y="2889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3856" y="276148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 del cliente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07408" y="276148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FUERTE</a:t>
            </a:r>
            <a:endParaRPr lang="en-US" sz="1000" dirty="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410712"/>
            <a:ext cx="5074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20" name="rank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3538728"/>
            <a:ext cx="292608" cy="292608"/>
          </a:xfrm>
          <a:prstGeom prst="ellipse">
            <a:avLst/>
          </a:prstGeom>
          <a:solidFill>
            <a:srgbClr val="1FA8C0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21" name="Text 19"/>
          <p:cNvSpPr/>
          <p:nvPr/>
        </p:nvSpPr>
        <p:spPr>
          <a:xfrm>
            <a:off x="713232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33856" y="341071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en clases grupales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07408" y="341071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1F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IMPORTANTE</a:t>
            </a:r>
            <a:endParaRPr lang="en-US" sz="1000" dirty="0"/>
          </a:p>
        </p:txBody>
      </p:sp>
      <p:sp>
        <p:nvSpPr>
          <p:cNvPr id="2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4059936"/>
            <a:ext cx="5074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25" name="rank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4187952"/>
            <a:ext cx="292608" cy="292608"/>
          </a:xfrm>
          <a:prstGeom prst="ellipse">
            <a:avLst/>
          </a:prstGeom>
          <a:solidFill>
            <a:srgbClr val="1FA8C0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26" name="Text 24"/>
          <p:cNvSpPr/>
          <p:nvPr/>
        </p:nvSpPr>
        <p:spPr>
          <a:xfrm>
            <a:off x="713232" y="4187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33856" y="405993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adicional en servicios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07408" y="405993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1F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IMPORTANTE</a:t>
            </a:r>
            <a:endParaRPr lang="en-US" sz="1000" dirty="0"/>
          </a:p>
        </p:txBody>
      </p:sp>
      <p:sp>
        <p:nvSpPr>
          <p:cNvPr id="2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1463040"/>
            <a:ext cx="2633472" cy="3182112"/>
          </a:xfrm>
          <a:prstGeom prst="rect">
            <a:avLst/>
          </a:prstGeom>
          <a:solidFill>
            <a:srgbClr val="0E2440"/>
          </a:solidFill>
          <a:ln w="12700">
            <a:solidFill>
              <a:srgbClr val="0E244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30" name="Text 28"/>
          <p:cNvSpPr/>
          <p:nvPr/>
        </p:nvSpPr>
        <p:spPr>
          <a:xfrm>
            <a:off x="6199632" y="166420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FE0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99632" y="1975104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qué variables influyen más sobre la Cancelación de la membresía.</a:t>
            </a:r>
            <a:endParaRPr lang="en-US" sz="1250" dirty="0"/>
          </a:p>
        </p:txBody>
      </p:sp>
      <p:sp>
        <p:nvSpPr>
          <p:cNvPr id="32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9632" y="2971800"/>
            <a:ext cx="2121408" cy="0"/>
          </a:xfrm>
          <a:prstGeom prst="line">
            <a:avLst/>
          </a:prstGeom>
          <a:noFill/>
          <a:ln w="12700">
            <a:solidFill>
              <a:srgbClr val="2C4C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6199632" y="312724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FE0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Conclusión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99632" y="3438144"/>
            <a:ext cx="2176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duración del contrato, la frecuencia de visitas y la antigüedad son las más ligadas a la permanencia.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66928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Fitness · Análisis de churn y segmentación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321040" y="48280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MODELADO PREDICTIVO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Regresión Logística vs. Random Forest</a:t>
            </a:r>
            <a:endParaRPr lang="en-US" sz="2900" dirty="0"/>
          </a:p>
        </p:txBody>
      </p:sp>
      <p:graphicFrame>
        <p:nvGraphicFramePr>
          <p:cNvPr id="4" name="Comparación de modelos" descr="Gráfica de barras: Regresión Logística (Accuracy 0.93, Precision 0.86, Recall 0.83) vs Random Forest (Accuracy 0.92, Precision 0.85, Recall 0.83)."/>
          <p:cNvGraphicFramePr/>
          <p:nvPr/>
        </p:nvGraphicFramePr>
        <p:xfrm>
          <a:off x="457200" y="1508760"/>
          <a:ext cx="507492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440" y="1508760"/>
            <a:ext cx="2788920" cy="1371600"/>
          </a:xfrm>
          <a:prstGeom prst="rect">
            <a:avLst/>
          </a:prstGeom>
          <a:solidFill>
            <a:srgbClr val="0E2440"/>
          </a:solidFill>
          <a:ln w="12700">
            <a:solidFill>
              <a:srgbClr val="0E244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/>
          <p:nvPr/>
        </p:nvSpPr>
        <p:spPr>
          <a:xfrm>
            <a:off x="5806440" y="162763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91%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5806440" y="239572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en ambos modelos</a:t>
            </a:r>
            <a:endParaRPr lang="en-US" sz="1200" dirty="0"/>
          </a:p>
        </p:txBody>
      </p:sp>
      <p:sp>
        <p:nvSpPr>
          <p:cNvPr id="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440" y="3035808"/>
            <a:ext cx="278892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6044184" y="3200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Conclusión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44184" y="349300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modelos alcanzan un desempeño muy similar y una alta capacidad para identificar clientes en riesgo de abandono.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Fitness · Análisis de churn y segmentación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321040" y="48280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INTERPRETABILIDAD DEL MODELO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Ambos modelos coinciden en los factores clave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8001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coeficientes de la Regresión Logística y las importancias de Random Forest apuntan a las mismas variables.</a:t>
            </a:r>
            <a:endParaRPr lang="en-US" sz="1400" dirty="0"/>
          </a:p>
        </p:txBody>
      </p:sp>
      <p:sp>
        <p:nvSpPr>
          <p:cNvPr id="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057400"/>
            <a:ext cx="39136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841248" y="2258568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Regresión Logística · coeficientes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7824" y="2715768"/>
            <a:ext cx="33284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del contrato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de visitas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 del cliente</a:t>
            </a:r>
            <a:endParaRPr lang="en-US" sz="1350" dirty="0"/>
          </a:p>
        </p:txBody>
      </p:sp>
      <p:sp>
        <p:nvSpPr>
          <p:cNvPr id="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057400"/>
            <a:ext cx="39136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937760" y="2258568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A3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 · importancias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74336" y="2715768"/>
            <a:ext cx="33284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del contrato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de visitas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 del cliente</a:t>
            </a:r>
            <a:endParaRPr lang="en-US" sz="1350" dirty="0"/>
          </a:p>
        </p:txBody>
      </p:sp>
      <p:sp>
        <p:nvSpPr>
          <p:cNvPr id="11" name="callou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4041648"/>
            <a:ext cx="8010144" cy="640080"/>
          </a:xfrm>
          <a:prstGeom prst="rect">
            <a:avLst/>
          </a:prstGeom>
          <a:solidFill>
            <a:srgbClr val="EAF1F8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822960" y="4041648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5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Coincidencia total.  </a:t>
            </a: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duración del contrato, la frecuencia de visitas y la antigüedad son los tres principales predictores de la permanencia.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Fitness · Análisis de churn y segmentación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321040" y="48280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SEGMENTACIÓN DE CLIENTES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Cuántos grupos de clientes existen</a:t>
            </a:r>
            <a:endParaRPr lang="en-US" sz="2900" dirty="0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600200"/>
            <a:ext cx="2788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600200"/>
            <a:ext cx="2788920" cy="73152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Dendrograma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una separación natural entre los clientes y orienta cuántos grupos formar antes de aplicar K-Means.</a:t>
            </a:r>
            <a:endParaRPr lang="en-US" sz="1250" dirty="0"/>
          </a:p>
        </p:txBody>
      </p:sp>
      <p:sp>
        <p:nvSpPr>
          <p:cNvPr id="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65576" y="1600200"/>
            <a:ext cx="2788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65576" y="1600200"/>
            <a:ext cx="2788920" cy="73152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3721608" y="1874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Codo + Silhouette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21608" y="25146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métodos determinan el número óptimo de clústeres y coinciden en el mismo resultado.</a:t>
            </a:r>
            <a:endParaRPr lang="en-US" sz="1250" dirty="0"/>
          </a:p>
        </p:txBody>
      </p:sp>
      <p:sp>
        <p:nvSpPr>
          <p:cNvPr id="1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46520" y="1600200"/>
            <a:ext cx="2148840" cy="2331720"/>
          </a:xfrm>
          <a:prstGeom prst="rect">
            <a:avLst/>
          </a:prstGeom>
          <a:solidFill>
            <a:srgbClr val="0E2440"/>
          </a:solidFill>
          <a:ln w="12700">
            <a:solidFill>
              <a:srgbClr val="0E244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6446520" y="17830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0" b="1" dirty="0">
                <a:solidFill>
                  <a:srgbClr val="7FE0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800" dirty="0"/>
          </a:p>
        </p:txBody>
      </p:sp>
      <p:sp>
        <p:nvSpPr>
          <p:cNvPr id="14" name="Text 12"/>
          <p:cNvSpPr/>
          <p:nvPr/>
        </p:nvSpPr>
        <p:spPr>
          <a:xfrm>
            <a:off x="6446520" y="2880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clústeres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9400" y="32461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AF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Equilibrio entre simplicidad y capacidad de diferenciación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4160520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Objetivo.  </a:t>
            </a: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y confirmar el número adecuado de grupos para la segmentación de clientes.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Fitness · Análisis de churn y segmentación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321040" y="48280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SEGMENTACIÓN DE CLIENTES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Cinco perfiles con niveles de riesgo distintos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8001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clústeres se diferencian por frecuencia de visitas, antigüedad, duración del contrato y riesgo de abandono.</a:t>
            </a:r>
            <a:endParaRPr lang="en-US" sz="1400" dirty="0"/>
          </a:p>
        </p:txBody>
      </p:sp>
      <p:sp>
        <p:nvSpPr>
          <p:cNvPr id="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057400"/>
            <a:ext cx="391363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057400"/>
            <a:ext cx="82296" cy="1965960"/>
          </a:xfrm>
          <a:prstGeom prst="rect">
            <a:avLst/>
          </a:prstGeom>
          <a:solidFill>
            <a:srgbClr val="E06A4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41248" y="2276856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06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MAYOR TASA DE CHURN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2587752"/>
            <a:ext cx="3364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Contratos cortos + baja asistencia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41248" y="3136392"/>
            <a:ext cx="3364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Concentran la mayor probabilidad de cancelar la membresía: son la prioridad de retención.</a:t>
            </a:r>
            <a:endParaRPr lang="en-US" sz="1250" dirty="0"/>
          </a:p>
        </p:txBody>
      </p:sp>
      <p:sp>
        <p:nvSpPr>
          <p:cNvPr id="1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057400"/>
            <a:ext cx="391363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057400"/>
            <a:ext cx="82296" cy="1965960"/>
          </a:xfrm>
          <a:prstGeom prst="rect">
            <a:avLst/>
          </a:prstGeom>
          <a:solidFill>
            <a:srgbClr val="2FA37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937760" y="2276856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FA3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MENOR TASA DE CHURN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587752"/>
            <a:ext cx="3364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Contratos largos + alta participación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937760" y="3136392"/>
            <a:ext cx="3364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 con constancia y usan más servicios; presentan la permanencia más alta.</a:t>
            </a:r>
            <a:endParaRPr lang="en-US" sz="1250" dirty="0"/>
          </a:p>
        </p:txBody>
      </p:sp>
      <p:sp>
        <p:nvSpPr>
          <p:cNvPr id="15" name="no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4224528"/>
            <a:ext cx="8010144" cy="457200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822960" y="422452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75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de abandono no se reparte por igual: cada segmento exige una estrategia de retención distinta.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Fitness · Análisis de churn y segmentación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321040" y="48280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muestran los números</a:t>
            </a:r>
            <a:endParaRPr lang="en-US" sz="2900" dirty="0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572768"/>
            <a:ext cx="258775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572768"/>
            <a:ext cx="2587752" cy="82296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91%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49808" y="2578608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de los modelos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944368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capacidad para anticipar el churn.</a:t>
            </a:r>
            <a:endParaRPr lang="en-US" sz="1150" dirty="0"/>
          </a:p>
        </p:txBody>
      </p:sp>
      <p:sp>
        <p:nvSpPr>
          <p:cNvPr id="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1572768"/>
            <a:ext cx="258775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1572768"/>
            <a:ext cx="2587752" cy="82296"/>
          </a:xfrm>
          <a:prstGeom prst="rect">
            <a:avLst/>
          </a:prstGeom>
          <a:solidFill>
            <a:srgbClr val="1FA8C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456432" y="1847088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456432" y="2578608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 equivalentes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56432" y="2944368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Logística y Random Forest, muy parejos.</a:t>
            </a:r>
            <a:endParaRPr lang="en-US" sz="1150" dirty="0"/>
          </a:p>
        </p:txBody>
      </p:sp>
      <p:sp>
        <p:nvSpPr>
          <p:cNvPr id="1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0176" y="1572768"/>
            <a:ext cx="258775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0176" y="1572768"/>
            <a:ext cx="2587752" cy="82296"/>
          </a:xfrm>
          <a:prstGeom prst="rect">
            <a:avLst/>
          </a:prstGeom>
          <a:solidFill>
            <a:srgbClr val="2FA37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163056" y="1847088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FA3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163056" y="2578608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Segmentos de clientes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63056" y="2944368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distintos niveles de riesgo de abandono.</a:t>
            </a:r>
            <a:endParaRPr lang="en-US" sz="1150" dirty="0"/>
          </a:p>
        </p:txBody>
      </p:sp>
      <p:sp>
        <p:nvSpPr>
          <p:cNvPr id="19" name="highligh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767328"/>
            <a:ext cx="8010144" cy="868680"/>
          </a:xfrm>
          <a:prstGeom prst="rect">
            <a:avLst/>
          </a:prstGeom>
          <a:solidFill>
            <a:srgbClr val="0E244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868680" y="3767328"/>
            <a:ext cx="7406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7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decisivos.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duración del contrato y la frecuencia de visitas son los principales factores asociados a la retención de clientes.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66928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Fitness · Análisis de churn y segmentación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321040" y="48280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CONCLUSIÓN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cancelación no ocurre al azar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8001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 patrones claros que permiten identificar con anticipación a los clientes con mayor riesgo de abandonar el gimnasio.</a:t>
            </a:r>
            <a:endParaRPr lang="en-US" sz="1450" dirty="0"/>
          </a:p>
        </p:txBody>
      </p:sp>
      <p:sp>
        <p:nvSpPr>
          <p:cNvPr id="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240280"/>
            <a:ext cx="258775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240280"/>
            <a:ext cx="82296" cy="1600200"/>
          </a:xfrm>
          <a:prstGeom prst="rect">
            <a:avLst/>
          </a:prstGeom>
          <a:solidFill>
            <a:srgbClr val="E06A4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22960" y="2441448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6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Mayor riesgo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843784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 asistencia, baja antigüedad, planes cortos y uso limitado de servicios adicionales.</a:t>
            </a:r>
            <a:endParaRPr lang="en-US" sz="1250" dirty="0"/>
          </a:p>
        </p:txBody>
      </p:sp>
      <p:sp>
        <p:nvSpPr>
          <p:cNvPr id="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2240280"/>
            <a:ext cx="258775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2240280"/>
            <a:ext cx="82296" cy="1600200"/>
          </a:xfrm>
          <a:prstGeom prst="rect">
            <a:avLst/>
          </a:prstGeom>
          <a:solidFill>
            <a:srgbClr val="2FA37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529584" y="2441448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A3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Mayor permanencia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9584" y="2843784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Hábitos de asistencia constantes y mayor involucramiento con los servicios del gimnasio.</a:t>
            </a:r>
            <a:endParaRPr lang="en-US" sz="1250" dirty="0"/>
          </a:p>
        </p:txBody>
      </p:sp>
      <p:sp>
        <p:nvSpPr>
          <p:cNvPr id="1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0176" y="2240280"/>
            <a:ext cx="258775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0176" y="2240280"/>
            <a:ext cx="82296" cy="1600200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236208" y="2441448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Retención a la medida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36208" y="2843784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segmentación revela grupos distintos: una estrategia general no es la más eficiente.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4041648"/>
            <a:ext cx="8010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base objetiva para priorizar clientes en riesgo, intervenir antes de que abandonen y aumentar el valor de cada cliente.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Fitness · Análisis de churn y segmentación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321040" y="48280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RECOMENDACIONES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Cinco palancas para mejorar la retención</a:t>
            </a:r>
            <a:endParaRPr lang="en-US" sz="2900" dirty="0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481328"/>
            <a:ext cx="801014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numbe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481328"/>
            <a:ext cx="566928" cy="530352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66928" y="148132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44168" y="1481328"/>
            <a:ext cx="7004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Reforzar la incorporación de nuevos clientes durante las primeras semanas.</a:t>
            </a:r>
            <a:endParaRPr lang="en-US" sz="1350" dirty="0"/>
          </a:p>
        </p:txBody>
      </p:sp>
      <p:sp>
        <p:nvSpPr>
          <p:cNvPr id="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103120"/>
            <a:ext cx="801014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numbe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103120"/>
            <a:ext cx="566928" cy="530352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66928" y="210312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44168" y="2103120"/>
            <a:ext cx="7004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la frecuencia de asistencia para detectar señales tempranas de abandono.</a:t>
            </a:r>
            <a:endParaRPr lang="en-US" sz="1350" dirty="0"/>
          </a:p>
        </p:txBody>
      </p:sp>
      <p:sp>
        <p:nvSpPr>
          <p:cNvPr id="1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724912"/>
            <a:ext cx="801014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numbe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724912"/>
            <a:ext cx="566928" cy="530352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566928" y="272491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44168" y="2724912"/>
            <a:ext cx="7004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Incentivar la contratación de planes de mayor duración.</a:t>
            </a:r>
            <a:endParaRPr lang="en-US" sz="1350" dirty="0"/>
          </a:p>
        </p:txBody>
      </p:sp>
      <p:sp>
        <p:nvSpPr>
          <p:cNvPr id="1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346704"/>
            <a:ext cx="801014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numbe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346704"/>
            <a:ext cx="566928" cy="530352"/>
          </a:xfrm>
          <a:prstGeom prst="rect">
            <a:avLst/>
          </a:prstGeom>
          <a:solidFill>
            <a:srgbClr val="2FA37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566928" y="3346704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44168" y="3346704"/>
            <a:ext cx="7004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Promover el uso de servicios adicionales para aumentar el compromiso.</a:t>
            </a:r>
            <a:endParaRPr lang="en-US" sz="1350" dirty="0"/>
          </a:p>
        </p:txBody>
      </p:sp>
      <p:sp>
        <p:nvSpPr>
          <p:cNvPr id="2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968496"/>
            <a:ext cx="801014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numbe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968496"/>
            <a:ext cx="566928" cy="530352"/>
          </a:xfrm>
          <a:prstGeom prst="rect">
            <a:avLst/>
          </a:prstGeom>
          <a:solidFill>
            <a:srgbClr val="2FA37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566928" y="3968496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44168" y="3968496"/>
            <a:ext cx="7004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estrategias de retención específicas para cada segmento.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Fitness · Análisis de churn y segmentación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321040" y="48280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isualización abstracta de datos con nodos conectados y barras luminosas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verla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440">
              <a:alpha val="80000"/>
            </a:srgbClr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3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LOS DATOS A LA ACCIÓN</a:t>
            </a:r>
            <a:endParaRPr lang="en-US" sz="13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8288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Gracias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658368" y="30632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clientes en riesgo, intervenir a tiempo y diseñar estrategias enfocadas en la permanencia y el valor de cada cliente.</a:t>
            </a:r>
            <a:endParaRPr lang="en-US" sz="1500" dirty="0"/>
          </a:p>
        </p:txBody>
      </p:sp>
      <p:sp>
        <p:nvSpPr>
          <p:cNvPr id="7" name="resource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023360"/>
            <a:ext cx="2514600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5E86A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658368" y="40233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completo</a:t>
            </a:r>
            <a:endParaRPr lang="en-US" sz="1250" dirty="0"/>
          </a:p>
        </p:txBody>
      </p:sp>
      <p:sp>
        <p:nvSpPr>
          <p:cNvPr id="9" name="resource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55848" y="4023360"/>
            <a:ext cx="2514600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5E86A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3355848" y="40233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auxiliar</a:t>
            </a:r>
            <a:endParaRPr lang="en-US" sz="1250" dirty="0"/>
          </a:p>
        </p:txBody>
      </p:sp>
      <p:sp>
        <p:nvSpPr>
          <p:cNvPr id="11" name="resource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53328" y="4023360"/>
            <a:ext cx="2514600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5E86A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6053328" y="40233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ejecutiva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1099</Words>
  <Application>Microsoft Office PowerPoint</Application>
  <PresentationFormat>Presentación en pantalla (16:9)</PresentationFormat>
  <Paragraphs>193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Trebuchet MS</vt:lpstr>
      <vt:lpstr>Office Theme</vt:lpstr>
      <vt:lpstr>Análisis de Cancelación y Segmentación de Clientes</vt:lpstr>
      <vt:lpstr>El reto: retener a los socios de Model Fitness</vt:lpstr>
      <vt:lpstr>Dos frentes: predecir y segmentar</vt:lpstr>
      <vt:lpstr>Datos consistentes y listos para modelar</vt:lpstr>
      <vt:lpstr>Señales tempranas del abandono</vt:lpstr>
      <vt:lpstr>Variables más relacionadas con la retención</vt:lpstr>
      <vt:lpstr>Regresión Logística vs. Random Forest</vt:lpstr>
      <vt:lpstr>Ambos modelos coinciden en los factores clave</vt:lpstr>
      <vt:lpstr>Cuántos grupos de clientes existen</vt:lpstr>
      <vt:lpstr>Cinco perfiles con niveles de riesgo distintos</vt:lpstr>
      <vt:lpstr>Lo que muestran los números</vt:lpstr>
      <vt:lpstr>La cancelación no ocurre al azar</vt:lpstr>
      <vt:lpstr>Cinco palancas para mejorar la retención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Mercado</dc:creator>
  <cp:lastModifiedBy>Fernando Mercado</cp:lastModifiedBy>
  <cp:revision>1</cp:revision>
  <dcterms:created xsi:type="dcterms:W3CDTF">2026-07-19T18:23:52Z</dcterms:created>
  <dcterms:modified xsi:type="dcterms:W3CDTF">2026-07-19T18:37:42Z</dcterms:modified>
</cp:coreProperties>
</file>