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2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ercado" userId="53667e8fc0cb4dd0" providerId="LiveId" clId="{CBA7A93E-04BF-4674-99B8-1E4A92688858}"/>
    <pc:docChg chg="custSel modSld modNotesMaster">
      <pc:chgData name="Fernando Mercado" userId="53667e8fc0cb4dd0" providerId="LiveId" clId="{CBA7A93E-04BF-4674-99B8-1E4A92688858}" dt="2026-10-27T19:24:46.179" v="3" actId="26606"/>
      <pc:docMkLst>
        <pc:docMk/>
      </pc:docMkLst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56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6"/>
            <ac:spMk id="10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57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7"/>
            <ac:spMk id="16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58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8"/>
            <ac:spMk id="13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59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59"/>
            <ac:spMk id="22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0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0"/>
            <ac:spMk id="22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1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1"/>
            <ac:spMk id="34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2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2"/>
            <ac:spMk id="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2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4:02.379" v="2" actId="2660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4:02.379" v="2" actId="26606"/>
          <ac:spMkLst>
            <pc:docMk/>
            <pc:sldMk cId="0" sldId="262"/>
            <ac:spMk id="11" creationId="{00000000-0000-0000-0000-000000000000}"/>
          </ac:spMkLst>
        </pc:spChg>
        <pc:graphicFrameChg chg="add mod">
          <ac:chgData name="Fernando Mercado" userId="53667e8fc0cb4dd0" providerId="LiveId" clId="{CBA7A93E-04BF-4674-99B8-1E4A92688858}" dt="2026-10-27T19:24:46.179" v="3" actId="26606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3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3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3"/>
            <ac:spMk id="12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4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4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4:02.379" v="2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4:02.379" v="2" actId="2660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4"/>
            <ac:spMk id="16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5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9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5"/>
            <ac:spMk id="16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6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6"/>
            <ac:spMk id="20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7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4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8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7"/>
            <ac:spMk id="17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8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8"/>
            <ac:spMk id="3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8"/>
            <ac:spMk id="23" creationId="{00000000-0000-0000-0000-000000000000}"/>
          </ac:spMkLst>
        </pc:spChg>
      </pc:sldChg>
      <pc:sldChg chg="modSp mod modNotes">
        <pc:chgData name="Fernando Mercado" userId="53667e8fc0cb4dd0" providerId="LiveId" clId="{CBA7A93E-04BF-4674-99B8-1E4A92688858}" dt="2026-10-27T19:24:46.179" v="3" actId="26606"/>
        <pc:sldMkLst>
          <pc:docMk/>
          <pc:sldMk cId="0" sldId="269"/>
        </pc:sldMkLst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9"/>
            <ac:spMk id="6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Fernando Mercado" userId="53667e8fc0cb4dd0" providerId="LiveId" clId="{CBA7A93E-04BF-4674-99B8-1E4A92688858}" dt="2026-10-27T19:23:10.289" v="1" actId="26606"/>
          <ac:spMkLst>
            <pc:docMk/>
            <pc:sldMk cId="0" sldId="269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</c:v>
                </c:pt>
                <c:pt idx="1">
                  <c:v>89.6</c:v>
                </c:pt>
                <c:pt idx="2">
                  <c:v>85.38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74-402A-B65C-1992436B02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FA8C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92.25</c:v>
                </c:pt>
                <c:pt idx="1">
                  <c:v>87.5</c:v>
                </c:pt>
                <c:pt idx="2">
                  <c:v>82.55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74-402A-B65C-1992436B0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1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7ED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1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523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7452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22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terior de gimnasio moderno en penumbra con equipos de entrenamiento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440">
              <a:alpha val="68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left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94960" cy="5143500"/>
          </a:xfrm>
          <a:prstGeom prst="rect">
            <a:avLst/>
          </a:prstGeom>
          <a:solidFill>
            <a:srgbClr val="0E2440">
              <a:alpha val="82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FITNESS  ·  ANÁLISIS DE DATOS</a:t>
            </a:r>
            <a:endParaRPr lang="en-US" sz="13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745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Cancelación y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58368" y="331012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predictivos y segmentación de comportamiento para reducir la cancelación de membresías.</a:t>
            </a:r>
            <a:endParaRPr lang="en-US" sz="15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4041648"/>
            <a:ext cx="2011680" cy="0"/>
          </a:xfrm>
          <a:prstGeom prst="line">
            <a:avLst/>
          </a:prstGeom>
          <a:noFill/>
          <a:ln w="25400">
            <a:solidFill>
              <a:srgbClr val="1FA8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58368" y="4160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Supervisado &amp; No Supervisado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· Random Forest · K-Means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4681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r>
              <a:rPr lang="en-US" sz="105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DEL PROYECTO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reto: retener a los socios de Model Fitness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8001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busca reducir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de membresías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sus clientes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predicción temprana del churn y la segmentación de perfiles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 acciones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1460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14600"/>
            <a:ext cx="82296" cy="178308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27523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2783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cancelación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intervenciones preventivas basadas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51460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514600"/>
            <a:ext cx="82296" cy="1783080"/>
          </a:xfrm>
          <a:prstGeom prst="rect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29584" y="27523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Enfoque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9584" y="322783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y describir segmentos con necesidades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distintas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514600"/>
            <a:ext cx="25877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514600"/>
            <a:ext cx="82296" cy="178308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36208" y="27523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36208" y="322783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y Random Forest) y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(K-Means).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DEL ANÁLISIS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frentes: predecir y segmentar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54480"/>
            <a:ext cx="391363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5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54480"/>
            <a:ext cx="3913632" cy="82296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4"/>
          <p:cNvSpPr/>
          <p:nvPr/>
        </p:nvSpPr>
        <p:spPr>
          <a:xfrm>
            <a:off x="859536" y="170078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Predicción de abandono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0299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la </a:t>
            </a:r>
            <a:r>
              <a:rPr lang="es-MX" sz="1150" noProof="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r>
              <a:rPr lang="en-US" sz="11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membresía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2578608"/>
            <a:ext cx="334670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cliente cancelará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 membresía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Regresión Logística vs. Random Forest.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relevantes para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1363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0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13632" cy="82296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1" name="Text 9"/>
          <p:cNvSpPr/>
          <p:nvPr/>
        </p:nvSpPr>
        <p:spPr>
          <a:xfrm>
            <a:off x="4956048" y="1700784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56048" y="20299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perfiles con comportamiento similar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74336" y="2578608"/>
            <a:ext cx="334670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clientes con características similares.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soluciones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 5 clústeres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tasas históricas y orientar acciones de retención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PREPARACIÓN DE LOS DATOS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consistentes y listos para modelar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consistencia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exploratorio, el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segmentación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Valores nulos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encontraron</a:t>
            </a: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datos faltantes.</a:t>
            </a:r>
            <a:endParaRPr lang="en-US" sz="11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0" name="Text 8"/>
          <p:cNvSpPr/>
          <p:nvPr/>
        </p:nvSpPr>
        <p:spPr>
          <a:xfrm>
            <a:off x="28254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254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Duplicados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254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 filas duplicadas completas</a:t>
            </a: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4" name="Text 12"/>
          <p:cNvSpPr/>
          <p:nvPr/>
        </p:nvSpPr>
        <p:spPr>
          <a:xfrm>
            <a:off x="48828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828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</a:t>
            </a:r>
            <a:r>
              <a:rPr lang="en-US" sz="135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nombres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828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revisaron tipos y se normalizaron columnas</a:t>
            </a: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148840"/>
            <a:ext cx="193852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8" name="Text 16"/>
          <p:cNvSpPr/>
          <p:nvPr/>
        </p:nvSpPr>
        <p:spPr>
          <a:xfrm>
            <a:off x="6940296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40296" y="28620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Estandarización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40296" y="3172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para </a:t>
            </a:r>
            <a:r>
              <a:rPr lang="en-US" sz="110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que lo requieren</a:t>
            </a:r>
            <a:r>
              <a:rPr lang="en-US" sz="11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conclu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50208"/>
            <a:ext cx="8010144" cy="713232"/>
          </a:xfrm>
          <a:prstGeom prst="rect">
            <a:avLst/>
          </a:prstGeom>
          <a:solidFill>
            <a:srgbClr val="E8F5EF"/>
          </a:solidFill>
          <a:ln w="12700">
            <a:solidFill>
              <a:srgbClr val="2FA37A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2" name="Text 20"/>
          <p:cNvSpPr/>
          <p:nvPr/>
        </p:nvSpPr>
        <p:spPr>
          <a:xfrm>
            <a:off x="822960" y="3950208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 </a:t>
            </a:r>
            <a:r>
              <a:rPr lang="en-US" sz="1250" b="1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contiene 4,000 registros y 14 columnas. Se conservaron los valores originales; el redondeo se utilizó solo para visualizar.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EXPLORATORIO · EDA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Señales tempranas del abandono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que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permanecieron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cancelaron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muestran diferencias consistentes en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7" name="Text 5"/>
          <p:cNvSpPr/>
          <p:nvPr/>
        </p:nvSpPr>
        <p:spPr>
          <a:xfrm>
            <a:off x="8046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antigüedad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menor permanencia se asocia con 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</a:t>
            </a: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cancelaciones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1" name="Text 9"/>
          <p:cNvSpPr/>
          <p:nvPr/>
        </p:nvSpPr>
        <p:spPr>
          <a:xfrm>
            <a:off x="28620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Menor frecuencia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620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asistencia reciente e histórica es menor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3"/>
          <p:cNvSpPr/>
          <p:nvPr/>
        </p:nvSpPr>
        <p:spPr>
          <a:xfrm>
            <a:off x="49194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Contratos cortos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194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</a:t>
            </a: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aparecen con más frecuencia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10312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9128" y="2103120"/>
            <a:ext cx="82296" cy="141732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9" name="Text 17"/>
          <p:cNvSpPr/>
          <p:nvPr/>
        </p:nvSpPr>
        <p:spPr>
          <a:xfrm>
            <a:off x="6976872" y="2322576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Menos actividad grupal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76872" y="288950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en </a:t>
            </a: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grupales es menor</a:t>
            </a: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1" name="conclu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13632"/>
            <a:ext cx="8010144" cy="731520"/>
          </a:xfrm>
          <a:prstGeom prst="rect">
            <a:avLst/>
          </a:prstGeom>
          <a:solidFill>
            <a:srgbClr val="0E2440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2" name="Text 20"/>
          <p:cNvSpPr/>
          <p:nvPr/>
        </p:nvSpPr>
        <p:spPr>
          <a:xfrm>
            <a:off x="822960" y="3913632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 </a:t>
            </a:r>
            <a:r>
              <a:rPr lang="en-US" sz="1250" b="1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diferencias son señales asociadas al churn y orientan el monitoreo temprano; no demuestran causalidad.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EXPLORATORIO · EDA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Relaciones relevantes en </a:t>
            </a: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</a:t>
            </a: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correlación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63040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5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591056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4"/>
          <p:cNvSpPr/>
          <p:nvPr/>
        </p:nvSpPr>
        <p:spPr>
          <a:xfrm>
            <a:off x="713232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" y="1463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contrato</a:t>
            </a:r>
            <a:r>
              <a:rPr lang="en-US" sz="135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meses restantes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07408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ASOCIACIÓN</a:t>
            </a:r>
            <a:endParaRPr lang="en-US" sz="10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12264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0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240280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1" name="Text 9"/>
          <p:cNvSpPr/>
          <p:nvPr/>
        </p:nvSpPr>
        <p:spPr>
          <a:xfrm>
            <a:off x="71323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3856" y="21122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histórica ↔ mes actual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07408" y="211226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ASOCIACIÓN</a:t>
            </a:r>
            <a:endParaRPr lang="en-US" sz="10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61488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5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889504"/>
            <a:ext cx="292608" cy="29260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6" name="Text 14"/>
          <p:cNvSpPr/>
          <p:nvPr/>
        </p:nvSpPr>
        <p:spPr>
          <a:xfrm>
            <a:off x="713232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↔ permanencia</a:t>
            </a: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cliente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07408" y="27614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RELEVANTE</a:t>
            </a:r>
            <a:endParaRPr lang="en-US" sz="10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410712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0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538728"/>
            <a:ext cx="292608" cy="292608"/>
          </a:xfrm>
          <a:prstGeom prst="ellipse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1" name="Text 19"/>
          <p:cNvSpPr/>
          <p:nvPr/>
        </p:nvSpPr>
        <p:spPr>
          <a:xfrm>
            <a:off x="713232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" y="34107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↔ frecuencia de visitas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07408" y="34107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RELEVANTE</a:t>
            </a:r>
            <a:endParaRPr lang="en-US" sz="100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59936"/>
            <a:ext cx="5074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5" name="rank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187952"/>
            <a:ext cx="292608" cy="292608"/>
          </a:xfrm>
          <a:prstGeom prst="ellipse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6" name="Text 24"/>
          <p:cNvSpPr/>
          <p:nvPr/>
        </p:nvSpPr>
        <p:spPr>
          <a:xfrm>
            <a:off x="713232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3856" y="405993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no implica causalidad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07408" y="40599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CAUTELA</a:t>
            </a:r>
            <a:endParaRPr lang="en-US" sz="1000" dirty="0"/>
          </a:p>
        </p:txBody>
      </p:sp>
      <p:sp>
        <p:nvSpPr>
          <p:cNvPr id="2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1463040"/>
            <a:ext cx="2633472" cy="3182112"/>
          </a:xfrm>
          <a:prstGeom prst="rect">
            <a:avLst/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30" name="Text 28"/>
          <p:cNvSpPr/>
          <p:nvPr/>
        </p:nvSpPr>
        <p:spPr>
          <a:xfrm>
            <a:off x="6199632" y="16642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E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1975104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asociaciones entre </a:t>
            </a:r>
            <a:r>
              <a:rPr lang="en-US" sz="12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</a:t>
            </a:r>
            <a:r>
              <a:rPr lang="en-US" sz="125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reconocer dependencias relevantes para interpretar los modelos</a:t>
            </a:r>
            <a:r>
              <a:rPr lang="en-US" sz="12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2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2971800"/>
            <a:ext cx="2121408" cy="0"/>
          </a:xfrm>
          <a:prstGeom prst="line">
            <a:avLst/>
          </a:prstGeom>
          <a:noFill/>
          <a:ln w="1270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99632" y="31272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E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9632" y="3438144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permanencia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se relacionan con el churn;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colinealidad exige interpretar los efectos con cautela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MODELADO PREDICTIVO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 vs. Random Forest</a:t>
            </a:r>
            <a:endParaRPr lang="en-US" sz="2900" dirty="0"/>
          </a:p>
        </p:txBody>
      </p:sp>
      <p:graphicFrame>
        <p:nvGraphicFramePr>
          <p:cNvPr id="4" name="Comparación de modelos" descr="Gráfica de barras: Regresión Logística (Accuracy 0.93, Precision 0.86, Recall 0.83) vs Random Forest (Accuracy 0.92, Precision 0.85, Recall 0.83)."/>
          <p:cNvGraphicFramePr/>
          <p:nvPr>
            <p:extLst>
              <p:ext uri="{D42A27DB-BD31-4B8C-83A1-F6EECF244321}">
                <p14:modId xmlns:p14="http://schemas.microsoft.com/office/powerpoint/2010/main" val="1890025247"/>
              </p:ext>
            </p:extLst>
          </p:nvPr>
        </p:nvGraphicFramePr>
        <p:xfrm>
          <a:off x="457200" y="1508760"/>
          <a:ext cx="50749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1508760"/>
            <a:ext cx="2788920" cy="1371600"/>
          </a:xfrm>
          <a:prstGeom prst="rect">
            <a:avLst/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5806440" y="16276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93.50</a:t>
            </a: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806440" y="23957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A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accuracy · Regresión Logística</a:t>
            </a:r>
            <a:endParaRPr lang="en-US" sz="120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3035808"/>
            <a:ext cx="278892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044184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44184" y="349300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Logística lidera las tres métricas y se selecciona como modelo principal. Recall: 85.38%.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</a:t>
            </a: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8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INTERPRETABILIDAD DEL MODELO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lecturas complementarias, no causales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explican la dirección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asociaciones; las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importancias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muestran cuánto contribuye cada variable a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57400"/>
            <a:ext cx="3913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 · coeficientes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715768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 y magnitud de la asociación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sobre las log-odds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con las demás variables constantes</a:t>
            </a:r>
            <a:endParaRPr lang="en-US" sz="13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57400"/>
            <a:ext cx="3913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937760" y="2258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· importancias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74336" y="2715768"/>
            <a:ext cx="33284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a las predicciones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indican si el efecto aumenta o disminuye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Complementan la lectura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lineal</a:t>
            </a:r>
            <a:endParaRPr lang="en-US" sz="1350" dirty="0"/>
          </a:p>
        </p:txBody>
      </p:sp>
      <p:sp>
        <p:nvSpPr>
          <p:cNvPr id="11" name="callo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41648"/>
            <a:ext cx="8010144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Cautela</a:t>
            </a:r>
            <a:r>
              <a:rPr lang="en-US" sz="1250" b="1" dirty="0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1250" b="1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y permanencia incluyen variables correlacionadas: los modelos explican predicciones, no prueban que una variable cause la cancelación.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estructura no define un único número óptimo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0020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00200"/>
            <a:ext cx="2788920" cy="731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Dendrograma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referencia exploratoria. Con 4,000 observaciones, sus ramas no justifican por sí solas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definitiva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5576" y="160020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5576" y="1600200"/>
            <a:ext cx="2788920" cy="731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721608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Codo + Silhouette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21608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codo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no señalan una única alternativa contundente; la separación entre grupos es limitada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1600200"/>
            <a:ext cx="2148840" cy="2331720"/>
          </a:xfrm>
          <a:prstGeom prst="rect">
            <a:avLst/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7FE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0.1647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 máximo · k =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>
                <a:solidFill>
                  <a:srgbClr val="A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comparan k = 3 </a:t>
            </a:r>
            <a:r>
              <a:rPr lang="en-US" sz="1050" dirty="0">
                <a:solidFill>
                  <a:srgbClr val="A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050">
                <a:solidFill>
                  <a:srgbClr val="AF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por su utilidad para describir perfiles.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16052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analítica</a:t>
            </a:r>
            <a:r>
              <a:rPr lang="en-US" sz="12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1250" b="1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3 y 5 clústeres por sus características, tasas históricas de churn y utilidad potencial para el negocio.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SEGMENTACIÓN DE CLIENTES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</a:t>
            </a: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clústeres ofrecen una lectura más detallada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8001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grupos distinguen perfiles con tasas históricas 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0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muy diferentes</a:t>
            </a:r>
            <a:r>
              <a:rPr lang="en-US" sz="14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57400"/>
            <a:ext cx="39136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57400"/>
            <a:ext cx="82296" cy="196596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41248" y="22768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E06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5 · </a:t>
            </a:r>
            <a:r>
              <a:rPr lang="en-US" sz="1100" b="1" kern="0" spc="150" dirty="0">
                <a:solidFill>
                  <a:srgbClr val="E06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</a:t>
            </a:r>
            <a:r>
              <a:rPr lang="en-US" sz="1100" b="1" kern="0" spc="150">
                <a:solidFill>
                  <a:srgbClr val="E06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58775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51.32% · 45.04% · 26.94% · 5.50% · 2.23%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313639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segmentos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alta, uno intermedio y dos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baja permiten explorar acciones más específicas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57400"/>
            <a:ext cx="39136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57400"/>
            <a:ext cx="82296" cy="196596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937760" y="22768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3 · LECTURA SIMPLE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87752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55.88% · 8.61% · 3.02%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937760" y="3136392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alternativa resume el riesgo en tres perfiles, 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2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granularidad para diseñar intervenciones</a:t>
            </a: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224528"/>
            <a:ext cx="8010144" cy="45720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22960" y="42245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Cautela.  Son tasas observadas </a:t>
            </a:r>
            <a:r>
              <a:rPr lang="en-US" sz="1200" i="1" dirty="0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segmento</a:t>
            </a:r>
            <a:r>
              <a:rPr lang="en-US" sz="1200" i="1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probabilidades individuales ni evidencia causal</a:t>
            </a:r>
            <a:r>
              <a:rPr lang="en-US" sz="1200" i="1" dirty="0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i="1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</a:t>
            </a:r>
            <a:r>
              <a:rPr lang="en-US" sz="1200" i="1" dirty="0">
                <a:solidFill>
                  <a:srgbClr val="175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 lidera las tres métricas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72768"/>
            <a:ext cx="25877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72768"/>
            <a:ext cx="2587752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93.50</a:t>
            </a:r>
            <a:r>
              <a:rPr lang="en-US" sz="4000" b="1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</a:t>
            </a:r>
            <a:r>
              <a:rPr lang="en-US" sz="14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Reg. Logística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92.25%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72768"/>
            <a:ext cx="25877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72768"/>
            <a:ext cx="2587752" cy="82296"/>
          </a:xfrm>
          <a:prstGeom prst="rect">
            <a:avLst/>
          </a:prstGeom>
          <a:solidFill>
            <a:srgbClr val="1FA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456432" y="184708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1FA8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89.60%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56432" y="25786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· Reg. Logística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9443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87.50%</a:t>
            </a:r>
            <a:endParaRPr lang="en-US" sz="11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1572768"/>
            <a:ext cx="25877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1572768"/>
            <a:ext cx="2587752" cy="82296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163056" y="1847088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85.38%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63056" y="257860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· Reg. Logística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63056" y="29443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82.55%</a:t>
            </a:r>
            <a:endParaRPr lang="en-US" sz="1150" dirty="0"/>
          </a:p>
        </p:txBody>
      </p:sp>
      <p:sp>
        <p:nvSpPr>
          <p:cNvPr id="19" name="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767328"/>
            <a:ext cx="8010144" cy="868680"/>
          </a:xfrm>
          <a:prstGeom prst="rect">
            <a:avLst/>
          </a:prstGeom>
          <a:solidFill>
            <a:srgbClr val="0E244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68680" y="3767328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clave</a:t>
            </a:r>
            <a:r>
              <a:rPr lang="en-US" sz="1350" b="1" dirty="0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1350" b="1">
                <a:solidFill>
                  <a:srgbClr val="7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Logística es la mejor alternativa comparada; la segmentación de 5 clústeres complementa la priorización con perfiles de riesgo más específicos.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Predicción y segmentación se complementan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identifica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asociados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churn y reconoce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proporción importante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realmente cancelaron en 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prueba</a:t>
            </a: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0280"/>
            <a:ext cx="25877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0280"/>
            <a:ext cx="82296" cy="1600200"/>
          </a:xfrm>
          <a:prstGeom prst="rect">
            <a:avLst/>
          </a:prstGeom>
          <a:solidFill>
            <a:srgbClr val="E06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06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principal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4378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obtiene el mejor desempeño de las dos alternativas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recall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85.38%.</a:t>
            </a:r>
            <a:endParaRPr lang="en-US" sz="12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240280"/>
            <a:ext cx="25877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240280"/>
            <a:ext cx="82296" cy="1600200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29584" y="244144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Lectura por segmentos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84378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clústeres permiten explorar perfiles 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históricas de cancelación más específicos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240280"/>
            <a:ext cx="25877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38100" dir="5400000" algn="bl" rotWithShape="0">
              <a:srgbClr val="8CA3BC">
                <a:alpha val="2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0176" y="2240280"/>
            <a:ext cx="82296" cy="16002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36208" y="2441448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en operación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36208" y="2843784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intervenciones deben validarse para comprobar si reducen churn y generan beneficio económico</a:t>
            </a: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041648"/>
            <a:ext cx="8010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</a:t>
            </a:r>
            <a:r>
              <a:rPr lang="en-US" sz="125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</a:t>
            </a: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priorizar </a:t>
            </a:r>
            <a:r>
              <a:rPr lang="en-US" sz="125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atención preventiva</a:t>
            </a: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acciones por perfil </a:t>
            </a: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50" i="1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su impacto real</a:t>
            </a: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6583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</a:t>
            </a: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acciones </a:t>
            </a: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</a:t>
            </a:r>
            <a:r>
              <a:rPr lang="en-US" sz="2900" b="1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convertir el análisis en</a:t>
            </a:r>
            <a:r>
              <a:rPr lang="en-US" sz="2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retención</a:t>
            </a:r>
            <a:endParaRPr lang="en-US" sz="29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566928" cy="5303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4168" y="1481328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incorporación de nuevos clientes durante las primeras semanas.</a:t>
            </a:r>
            <a:endParaRPr lang="en-US" sz="13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03120"/>
            <a:ext cx="566928" cy="5303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66928" y="210312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4168" y="2103120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la frecuencia de asistencia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posible señal temprana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abandono.</a:t>
            </a:r>
            <a:endParaRPr lang="en-US" sz="13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24912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24912"/>
            <a:ext cx="566928" cy="530352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66928" y="272491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4168" y="2724912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incentivos para contratar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planes de mayor duración.</a:t>
            </a:r>
            <a:endParaRPr lang="en-US" sz="13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346704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346704"/>
            <a:ext cx="566928" cy="530352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66928" y="334670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4168" y="3346704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grupales y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adicionales para aumentar el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involucramiento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68496"/>
            <a:ext cx="80101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number t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68496"/>
            <a:ext cx="566928" cy="530352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66928" y="396849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4168" y="3968496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la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r>
              <a:rPr lang="en-US" sz="135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medir resultados con seguimiento o pruebas controladas</a:t>
            </a: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Fitness · Análisis de churn y segmentación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21040" y="48280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ualización abstracta de datos con nodos conectados y barras luminosas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440">
              <a:alpha val="80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D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LOS DATOS A LA ACCIÓN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clientes en riesgo, </a:t>
            </a:r>
            <a:r>
              <a:rPr lang="en-US" sz="150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acciones </a:t>
            </a:r>
            <a:r>
              <a:rPr lang="en-US" sz="15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perfiles </a:t>
            </a:r>
            <a:r>
              <a:rPr lang="en-US" sz="15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50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</a:t>
            </a:r>
            <a:r>
              <a:rPr lang="en-US" sz="15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50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antes de escalarla</a:t>
            </a:r>
            <a:r>
              <a:rPr lang="en-US" sz="150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resourc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23360"/>
            <a:ext cx="251460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E8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58368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completo</a:t>
            </a:r>
            <a:endParaRPr lang="en-US" sz="1250" dirty="0"/>
          </a:p>
        </p:txBody>
      </p:sp>
      <p:sp>
        <p:nvSpPr>
          <p:cNvPr id="9" name="resourc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4023360"/>
            <a:ext cx="251460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E8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3355848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</a:t>
            </a: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dependencias</a:t>
            </a:r>
            <a:endParaRPr lang="en-US" sz="1250" dirty="0"/>
          </a:p>
        </p:txBody>
      </p:sp>
      <p:sp>
        <p:nvSpPr>
          <p:cNvPr id="11" name="resource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4023360"/>
            <a:ext cx="251460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5E86A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6053328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y documentación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1192</Words>
  <Application>Microsoft Office PowerPoint</Application>
  <PresentationFormat>Presentación en pantalla (16:9)</PresentationFormat>
  <Paragraphs>193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Análisis de Cancelación y Segmentación de Clientes</vt:lpstr>
      <vt:lpstr>El reto: retener a los socios de Model Fitness</vt:lpstr>
      <vt:lpstr>Dos frentes: predecir y segmentar</vt:lpstr>
      <vt:lpstr>Datos consistentes y listos para modelar</vt:lpstr>
      <vt:lpstr>Señales tempranas del abandono</vt:lpstr>
      <vt:lpstr>Relaciones relevantes en la matriz de correlación</vt:lpstr>
      <vt:lpstr>Regresión Logística vs. Random Forest</vt:lpstr>
      <vt:lpstr>Dos lecturas complementarias, no causales</vt:lpstr>
      <vt:lpstr>La estructura no define un único número óptimo</vt:lpstr>
      <vt:lpstr>Cinco clústeres ofrecen una lectura más detallada</vt:lpstr>
      <vt:lpstr>Regresión Logística lidera las tres métricas</vt:lpstr>
      <vt:lpstr>Predicción y segmentación se complementan</vt:lpstr>
      <vt:lpstr>Cinco acciones para convertir el análisis en retención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Mercado</dc:creator>
  <cp:lastModifiedBy>Fernando Mercado</cp:lastModifiedBy>
  <cp:revision>1</cp:revision>
  <dcterms:created xsi:type="dcterms:W3CDTF">2026-07-19T18:23:52Z</dcterms:created>
  <dcterms:modified xsi:type="dcterms:W3CDTF">2026-10-27T19:24:56Z</dcterms:modified>
</cp:coreProperties>
</file>